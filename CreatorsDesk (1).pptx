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EBDF"/>
    <a:srgbClr val="D9A8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9112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56677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520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2371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74691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04241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16915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0537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3205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73842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7064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70292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191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3040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kern="0" spc="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CREATOR'S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kern="0" spc="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" y="361188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next-generation, minimalist e-commerce experience</a:t>
            </a:r>
            <a:endParaRPr lang="en-US" sz="15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microservices</a:t>
            </a:r>
            <a:r>
              <a:rPr lang="en-US" sz="15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38160" y="141732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1C1C1C"/>
          </a:solidFill>
          <a:ln w="15875">
            <a:solidFill>
              <a:srgbClr val="D9A8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366760" y="1618488"/>
            <a:ext cx="91440" cy="91440"/>
          </a:xfrm>
          <a:prstGeom prst="ellipse">
            <a:avLst/>
          </a:prstGeom>
          <a:solidFill>
            <a:srgbClr val="D9A8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549640" y="1618488"/>
            <a:ext cx="91440" cy="91440"/>
          </a:xfrm>
          <a:prstGeom prst="ellipse">
            <a:avLst/>
          </a:prstGeom>
          <a:solidFill>
            <a:srgbClr val="C9C9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732520" y="1618488"/>
            <a:ext cx="91440" cy="91440"/>
          </a:xfrm>
          <a:prstGeom prst="ellipse">
            <a:avLst/>
          </a:prstGeom>
          <a:solidFill>
            <a:srgbClr val="C9C9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366760" y="1920240"/>
            <a:ext cx="292608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366760" y="2560320"/>
            <a:ext cx="777240" cy="685800"/>
          </a:xfrm>
          <a:prstGeom prst="rect">
            <a:avLst/>
          </a:prstGeom>
          <a:solidFill>
            <a:srgbClr val="D9A8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235440" y="2560320"/>
            <a:ext cx="777240" cy="685800"/>
          </a:xfrm>
          <a:prstGeom prst="rect">
            <a:avLst/>
          </a:prstGeom>
          <a:solidFill>
            <a:srgbClr val="2A2A2A"/>
          </a:solidFill>
          <a:ln w="9525">
            <a:solidFill>
              <a:srgbClr val="D9A8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104120" y="2560320"/>
            <a:ext cx="777240" cy="685800"/>
          </a:xfrm>
          <a:prstGeom prst="rect">
            <a:avLst/>
          </a:prstGeom>
          <a:solidFill>
            <a:srgbClr val="2A2A2A"/>
          </a:solidFill>
          <a:ln w="9525">
            <a:solidFill>
              <a:srgbClr val="D9A8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818120" y="3584448"/>
            <a:ext cx="4023360" cy="109728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1248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PASSWORDLESS  ·  MICROSERVICES  ·  DOCKER  ·  KUBERNETES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 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kern="0" spc="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 &amp; THE PROBLEM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1208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E4D8C6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44805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clutter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buries the product behind noise.
</a:t>
            </a: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fatigue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forgotten passwords and endless reset loops.
</a:t>
            </a: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Fragile monoliths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crash entirely when one feature breaks.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212080" cy="4160520"/>
          </a:xfrm>
          <a:prstGeom prst="roundRect">
            <a:avLst>
              <a:gd name="adj" fmla="val 1319"/>
            </a:avLst>
          </a:prstGeom>
          <a:solidFill>
            <a:srgbClr val="111111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29400" y="2240280"/>
            <a:ext cx="502920" cy="502920"/>
          </a:xfrm>
          <a:prstGeom prst="ellipse">
            <a:avLst/>
          </a:prstGeom>
          <a:solidFill>
            <a:srgbClr val="D9A8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6294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29400" y="2926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3383280"/>
            <a:ext cx="44805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Distraction-free shopping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clean environment built around the product.
</a:t>
            </a:r>
            <a:r>
              <a:rPr lang="en-US" sz="1350" b="1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Frictionless login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zero passwords to remember or reset.
</a:t>
            </a:r>
            <a:r>
              <a:rPr lang="en-US" sz="1350" b="1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architecture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every feature runs — and fails — independently.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CREATOR'S DESK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kern="0" spc="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3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213055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77063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kern="0" spc="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FRICTIONLESS ACCESS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3136392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passwords required — sign in with your phone alone.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3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83680" y="213055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583680" y="277063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kern="0" spc="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DASHBOARD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0" y="3136392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personal details and order history in a single, dynamic view.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3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8680" y="446227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68680" y="510235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kern="0" spc="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 FAST BROWSING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5468112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page transitions and global cart management, no reloading.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420624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3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83680" y="446227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583680" y="510235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kern="0" spc="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FAULT-TOLERANT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83680" y="5468112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cart goes down, users still browse and log in seamlessly.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CREATOR'S DESK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kern="0" spc="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 STACK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121408" cy="3794760"/>
          </a:xfrm>
          <a:prstGeom prst="rect">
            <a:avLst/>
          </a:prstGeom>
          <a:solidFill>
            <a:srgbClr val="1B1B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21408" cy="54864"/>
          </a:xfrm>
          <a:prstGeom prst="rect">
            <a:avLst/>
          </a:prstGeom>
          <a:solidFill>
            <a:srgbClr val="D9A8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kern="0" spc="50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(Vite)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71216" y="1965960"/>
            <a:ext cx="2121408" cy="3794760"/>
          </a:xfrm>
          <a:prstGeom prst="rect">
            <a:avLst/>
          </a:prstGeom>
          <a:solidFill>
            <a:srgbClr val="1B1B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871216" y="1965960"/>
            <a:ext cx="2121408" cy="54864"/>
          </a:xfrm>
          <a:prstGeom prst="rect">
            <a:avLst/>
          </a:prstGeom>
          <a:solidFill>
            <a:srgbClr val="D9A8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099816" y="2286000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kern="0" spc="50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099816" y="310896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99816" y="361188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93792" y="1965960"/>
            <a:ext cx="2121408" cy="3794760"/>
          </a:xfrm>
          <a:prstGeom prst="rect">
            <a:avLst/>
          </a:prstGeom>
          <a:solidFill>
            <a:srgbClr val="1B1B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193792" y="1965960"/>
            <a:ext cx="2121408" cy="54864"/>
          </a:xfrm>
          <a:prstGeom prst="rect">
            <a:avLst/>
          </a:prstGeom>
          <a:solidFill>
            <a:srgbClr val="D9A8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22392" y="2286000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kern="0" spc="50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22392" y="310896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22392" y="361188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(Cloud NoSQL)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16368" y="1965960"/>
            <a:ext cx="2121408" cy="3794760"/>
          </a:xfrm>
          <a:prstGeom prst="rect">
            <a:avLst/>
          </a:prstGeom>
          <a:solidFill>
            <a:srgbClr val="1B1B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516368" y="1965960"/>
            <a:ext cx="2121408" cy="54864"/>
          </a:xfrm>
          <a:prstGeom prst="rect">
            <a:avLst/>
          </a:prstGeom>
          <a:solidFill>
            <a:srgbClr val="D9A8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44968" y="2286000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kern="0" spc="50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44968" y="310896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Twilio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44968" y="361188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API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838944" y="1965960"/>
            <a:ext cx="2121408" cy="3794760"/>
          </a:xfrm>
          <a:prstGeom prst="rect">
            <a:avLst/>
          </a:prstGeom>
          <a:solidFill>
            <a:srgbClr val="1B1B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838944" y="1965960"/>
            <a:ext cx="2121408" cy="54864"/>
          </a:xfrm>
          <a:prstGeom prst="rect">
            <a:avLst/>
          </a:prstGeom>
          <a:solidFill>
            <a:srgbClr val="D9A8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067544" y="2286000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kern="0" spc="50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067544" y="310896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67544" y="361188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CREATOR'S DESK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WEBSITE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kern="0" spc="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SECURITY VIA TWILIO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traditional passwords </a:t>
            </a: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secure, 6-digit SMS one-time password system.
</a:t>
            </a: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Twilio's API </a:t>
            </a: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into the authentication flow.
</a:t>
            </a: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React logic </a:t>
            </a: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auto-formats international phone codes and handles verification state in real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417320" y="4160520"/>
            <a:ext cx="2286000" cy="0"/>
          </a:xfrm>
          <a:prstGeom prst="line">
            <a:avLst/>
          </a:prstGeom>
          <a:noFill/>
          <a:ln w="25400">
            <a:solidFill>
              <a:srgbClr val="E9C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3657600"/>
            <a:ext cx="1005840" cy="100584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36576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-548640" y="4864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PHONE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-548640" y="523036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submits mobile number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4160520"/>
            <a:ext cx="2286000" cy="0"/>
          </a:xfrm>
          <a:prstGeom prst="line">
            <a:avLst/>
          </a:prstGeom>
          <a:noFill/>
          <a:ln w="25400">
            <a:solidFill>
              <a:srgbClr val="E9C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703320" y="3657600"/>
            <a:ext cx="1005840" cy="100584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703320" y="36576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4864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SMS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523036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Twilio sends a 6-digit OTP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95160" y="3657600"/>
            <a:ext cx="1005840" cy="1005840"/>
          </a:xfrm>
          <a:prstGeom prst="ellipse">
            <a:avLst/>
          </a:prstGeom>
          <a:solidFill>
            <a:srgbClr val="D9A8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995160" y="36576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035040" y="4864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523036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instantly, no password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CREATOR'S DESK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WEBSITE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kern="0" spc="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MINIMALIST UI &amp; DYNAMIC PROFILE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2212848"/>
            <a:ext cx="512064" cy="512064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03911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AESTHETIC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984248"/>
            <a:ext cx="6766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black-and-white theme with tracking-widest typography that puts the focus purely on the products.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6424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68680" y="3630168"/>
            <a:ext cx="512064" cy="512064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6301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34564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PROFILE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401568"/>
            <a:ext cx="6766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tabbed interface allowing users to switch between Account Details and Order History instantly.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68680" y="5047488"/>
            <a:ext cx="512064" cy="512064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8680" y="50474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87375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MODE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4818888"/>
            <a:ext cx="6766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 securely update their shipping address and email while their verified phone number stays locked.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CREATOR'S DESK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WEBSITE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kern="0" spc="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SHOPPING, CART &amp; ORDERS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3977640"/>
          </a:xfrm>
          <a:prstGeom prst="rect">
            <a:avLst/>
          </a:prstGeom>
          <a:solidFill>
            <a:srgbClr val="F3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kern="0" spc="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356616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Context maintains the user's cart globally — add items from any page, anywhere in the app.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874520"/>
            <a:ext cx="3566160" cy="397764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1772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1772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HISTORY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17720" y="356616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past purchases dynamically from the cloud database, rendering clean order cards with dates and totals.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566160" cy="3977640"/>
          </a:xfrm>
          <a:prstGeom prst="rect">
            <a:avLst/>
          </a:prstGeom>
          <a:solidFill>
            <a:srgbClr val="F3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36676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6676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kern="0" spc="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STATES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66760" y="356616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Intuitive "Start Shopping" calls-to-action guide brand new users with empty order histories.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CREATOR'S DESK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kern="0" spc="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ENGINE: DECENTRALIZED ARCHITECTURE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one fragile server, the backend is split into 4 independent microservices — </a:t>
            </a:r>
            <a:r>
              <a:rPr lang="en-US" sz="1250" b="1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Product, Order, and Cart.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API Gateway is the single entry point that smartly routes frontend traffic to the correct service. Every piece of the application — including the React frontend — is packaged into its own isolated Docker container for total consistency across any environment.</a:t>
            </a:r>
            <a:endParaRPr lang="en-US" sz="125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907128" y="324612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D9A8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907128" y="32461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50505" y="4162598"/>
            <a:ext cx="0" cy="77724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48360" y="4960620"/>
            <a:ext cx="2331720" cy="914400"/>
          </a:xfrm>
          <a:prstGeom prst="rect">
            <a:avLst/>
          </a:prstGeom>
          <a:solidFill>
            <a:srgbClr val="1B1B1B"/>
          </a:solidFill>
          <a:ln w="12700">
            <a:solidFill>
              <a:srgbClr val="D9A8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48360" y="4709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1972" y="4183380"/>
            <a:ext cx="0" cy="77724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36112" y="4960620"/>
            <a:ext cx="2331720" cy="914400"/>
          </a:xfrm>
          <a:prstGeom prst="rect">
            <a:avLst/>
          </a:prstGeom>
          <a:solidFill>
            <a:srgbClr val="1B1B1B"/>
          </a:solidFill>
          <a:ln w="12700">
            <a:solidFill>
              <a:srgbClr val="D9A8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36112" y="4709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89724" y="4177143"/>
            <a:ext cx="0" cy="1009998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223864" y="4960620"/>
            <a:ext cx="2331720" cy="914400"/>
          </a:xfrm>
          <a:prstGeom prst="rect">
            <a:avLst/>
          </a:prstGeom>
          <a:solidFill>
            <a:srgbClr val="1B1B1B"/>
          </a:solidFill>
          <a:ln w="12700">
            <a:solidFill>
              <a:srgbClr val="D9A87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6223864" y="4709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977476" y="4141816"/>
            <a:ext cx="0" cy="879071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811616" y="4960620"/>
            <a:ext cx="2331720" cy="914400"/>
          </a:xfrm>
          <a:prstGeom prst="rect">
            <a:avLst/>
          </a:prstGeom>
          <a:solidFill>
            <a:srgbClr val="1B1B1B"/>
          </a:solidFill>
          <a:ln w="12700">
            <a:solidFill>
              <a:srgbClr val="D9A8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811616" y="4709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SERVICE — ITS OWN DOCKER CONTAINER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CREATOR'S DESK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E3E87AB4-1744-6BFE-3D0D-3FDDEEB5A5D0}"/>
              </a:ext>
            </a:extLst>
          </p:cNvPr>
          <p:cNvSpPr/>
          <p:nvPr/>
        </p:nvSpPr>
        <p:spPr>
          <a:xfrm flipH="1">
            <a:off x="2186252" y="4141816"/>
            <a:ext cx="7880431" cy="20782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DE23E9DF-3489-FCC9-2F43-417C7700E880}"/>
              </a:ext>
            </a:extLst>
          </p:cNvPr>
          <p:cNvSpPr/>
          <p:nvPr/>
        </p:nvSpPr>
        <p:spPr>
          <a:xfrm>
            <a:off x="6178836" y="3931920"/>
            <a:ext cx="0" cy="230678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kern="0" spc="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ORCHESTRATION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39776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2240280"/>
            <a:ext cx="548640" cy="54864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kern="0" spc="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MANAGEMENT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the entire cluster of Docker containers using Kubernetes.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874520"/>
            <a:ext cx="3566160" cy="39776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17720" y="2240280"/>
            <a:ext cx="548640" cy="54864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177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29718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kern="0" spc="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SECRETS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7720" y="374904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K8s Secrets to inject API keys and database passwords without exposing them in code.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566160" cy="39776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66760" y="2240280"/>
            <a:ext cx="548640" cy="54864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667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66760" y="29718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kern="0" spc="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LOCKED-DOWN NETWORKING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6760" y="374904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ClusterIP restricts backend traffic from the public internet — only Nginx and the API Gateway are exposed.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CREATOR'S DESK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50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8720" y="2404872"/>
            <a:ext cx="0" cy="246888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2688" y="2148840"/>
            <a:ext cx="512064" cy="512064"/>
          </a:xfrm>
          <a:prstGeom prst="ellipse">
            <a:avLst/>
          </a:prstGeom>
          <a:solidFill>
            <a:srgbClr val="D9A8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2688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0939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0" y="205740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cart logic and integrate a payment processor such as Stripe.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32688" y="3383280"/>
            <a:ext cx="512064" cy="512064"/>
          </a:xfrm>
          <a:prstGeom prst="ellipse">
            <a:avLst/>
          </a:prstGeom>
          <a:solidFill>
            <a:srgbClr val="D9A8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32688" y="3383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33284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75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CATALOG EXPANSION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486400" y="32918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Broaden our Product line by introducing new premium workspace gadgets.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2688" y="4617720"/>
            <a:ext cx="512064" cy="512064"/>
          </a:xfrm>
          <a:prstGeom prst="ellipse">
            <a:avLst/>
          </a:prstGeom>
          <a:solidFill>
            <a:srgbClr val="D9A8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32688" y="4617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45628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0" y="45262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automated testing and deployment pipelines.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</TotalTime>
  <Words>633</Words>
  <Application>Microsoft Office PowerPoint</Application>
  <PresentationFormat>Widescreen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sunny suwalka</cp:lastModifiedBy>
  <cp:revision>3</cp:revision>
  <dcterms:created xsi:type="dcterms:W3CDTF">2026-07-17T06:03:32Z</dcterms:created>
  <dcterms:modified xsi:type="dcterms:W3CDTF">2026-07-17T06:32:22Z</dcterms:modified>
</cp:coreProperties>
</file>